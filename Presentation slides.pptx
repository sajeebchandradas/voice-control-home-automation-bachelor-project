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notesMasterIdLst>
    <p:notesMasterId r:id="rId20"/>
  </p:notesMasterIdLst>
  <p:sldIdLst>
    <p:sldId id="256" r:id="rId2"/>
    <p:sldId id="264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71" r:id="rId12"/>
    <p:sldId id="270" r:id="rId13"/>
    <p:sldId id="266" r:id="rId14"/>
    <p:sldId id="267" r:id="rId15"/>
    <p:sldId id="272" r:id="rId16"/>
    <p:sldId id="269" r:id="rId17"/>
    <p:sldId id="268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38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129F4-10CB-4FA8-ACDA-94DF94BEFE95}" type="datetimeFigureOut">
              <a:rPr lang="en-US" smtClean="0"/>
              <a:t>3/11/2019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86B99-5B0C-448D-9002-00AC5368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95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386B99-5B0C-448D-9002-00AC5368904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513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386B99-5B0C-448D-9002-00AC5368904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340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5CF4F-4B24-4641-8595-0498A10530D7}" type="datetime1">
              <a:rPr lang="en-US" smtClean="0"/>
              <a:t>3/11/2019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872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8FB-2B32-42EB-93B5-CCA4DD11E995}" type="datetime1">
              <a:rPr lang="en-US" smtClean="0"/>
              <a:t>3/11/2019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34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4A77-D792-452E-BA34-CEB144C82C3B}" type="datetime1">
              <a:rPr lang="en-US" smtClean="0"/>
              <a:t>3/11/2019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70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E89A0-9319-4ED8-B847-DF675827E6D2}" type="datetime1">
              <a:rPr lang="en-US" smtClean="0"/>
              <a:t>3/11/2019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8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04C1-943C-4C9A-97DC-DCA1E8712090}" type="datetime1">
              <a:rPr lang="en-US" smtClean="0"/>
              <a:t>3/11/2019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612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8F6D-AAAC-4352-A854-BA36F2DA05E3}" type="datetime1">
              <a:rPr lang="en-US" smtClean="0"/>
              <a:t>3/11/2019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93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12493-A57A-494A-9CFD-036277315288}" type="datetime1">
              <a:rPr lang="en-US" smtClean="0"/>
              <a:t>3/11/2019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19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2D0E8-24D8-4744-A0AE-65E717B04633}" type="datetime1">
              <a:rPr lang="en-US" smtClean="0"/>
              <a:t>3/11/2019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2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B4B73-4E92-4C94-89A9-BA0507DB9950}" type="datetime1">
              <a:rPr lang="en-US" smtClean="0"/>
              <a:t>3/11/2019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6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7EFAE-C229-4A33-82F6-80F65616C298}" type="datetime1">
              <a:rPr lang="en-US" smtClean="0"/>
              <a:t>3/11/2019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211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2C7F-910B-4C3E-930B-8AB1C55DEBCD}" type="datetime1">
              <a:rPr lang="en-US" smtClean="0"/>
              <a:t>3/11/2019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6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E2E4D-0276-45AA-A428-DFE0734BB764}" type="datetime1">
              <a:rPr lang="en-US" smtClean="0"/>
              <a:t>3/11/2019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4153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F2A6A-83CB-40C7-AF07-AEF8763FAC29}" type="datetime1">
              <a:rPr lang="en-US" smtClean="0"/>
              <a:t>3/11/2019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92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01A55-7786-45BA-BCEA-9A9841FC095C}" type="datetime1">
              <a:rPr lang="en-US" smtClean="0"/>
              <a:t>3/11/2019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73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CA62B-DF07-48B0-8450-564B86DF9405}" type="datetime1">
              <a:rPr lang="en-US" smtClean="0"/>
              <a:t>3/11/2019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009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7517-03D6-4C4C-A61F-95DE7944AB3F}" type="datetime1">
              <a:rPr lang="en-US" smtClean="0"/>
              <a:t>3/11/2019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198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D253D-C80E-45BF-A1F1-9A88646D77F6}" type="datetime1">
              <a:rPr lang="en-US" smtClean="0"/>
              <a:t>3/11/2019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866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9FADCA2-199E-4F4A-89F8-6F2FA007108F}" type="datetime1">
              <a:rPr lang="en-US" smtClean="0"/>
              <a:t>3/11/2019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92B11-B7FB-46D3-99D3-2D3C1FA01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7361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</p:sldLayoutIdLst>
  <p:hf hdr="0" ftr="0" dt="0"/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8993" y="1063423"/>
            <a:ext cx="8551332" cy="1677984"/>
          </a:xfrm>
        </p:spPr>
        <p:txBody>
          <a:bodyPr/>
          <a:lstStyle/>
          <a:p>
            <a:r>
              <a:rPr lang="en-US" sz="4000" dirty="0" smtClean="0"/>
              <a:t>Voice Control Home Automation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sz="1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2511" y="2741407"/>
            <a:ext cx="6183543" cy="3318934"/>
          </a:xfrm>
        </p:spPr>
        <p:txBody>
          <a:bodyPr>
            <a:normAutofit/>
          </a:bodyPr>
          <a:lstStyle/>
          <a:p>
            <a:pPr algn="ctr"/>
            <a:r>
              <a:rPr lang="en-US" sz="1600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Course TITLE : PROJECT</a:t>
            </a:r>
          </a:p>
          <a:p>
            <a:pPr algn="ctr"/>
            <a:r>
              <a:rPr lang="en-US" sz="1600" b="1" u="sng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SUPERVISED BY</a:t>
            </a:r>
          </a:p>
          <a:p>
            <a:pPr algn="ctr"/>
            <a:r>
              <a:rPr lang="en-US" sz="1600" b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Liton</a:t>
            </a:r>
            <a:r>
              <a:rPr lang="en-US" sz="16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Chandra </a:t>
            </a:r>
            <a:r>
              <a:rPr lang="en-US" sz="1600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Paul</a:t>
            </a:r>
          </a:p>
          <a:p>
            <a:pPr algn="ctr"/>
            <a:r>
              <a:rPr lang="en-US" sz="1600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Assistant </a:t>
            </a:r>
            <a:r>
              <a:rPr lang="en-US" sz="1600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Professor</a:t>
            </a:r>
          </a:p>
          <a:p>
            <a:pPr algn="ctr"/>
            <a:r>
              <a:rPr lang="en-US" sz="1600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Department of Electronic and Telecommunication Engineering, </a:t>
            </a:r>
            <a:r>
              <a:rPr lang="en-US" sz="1600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PUST</a:t>
            </a:r>
          </a:p>
          <a:p>
            <a:pPr algn="ctr"/>
            <a:r>
              <a:rPr lang="en-US" sz="1600" b="1" u="sng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SUBMITTED BY</a:t>
            </a:r>
          </a:p>
          <a:p>
            <a:pPr algn="ctr"/>
            <a:r>
              <a:rPr lang="en-US" sz="1600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SAJEEB CHANDRA DAS </a:t>
            </a:r>
          </a:p>
          <a:p>
            <a:pPr algn="ctr"/>
            <a:r>
              <a:rPr lang="en-US" sz="1600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Roll: 150542</a:t>
            </a:r>
          </a:p>
          <a:p>
            <a:pPr algn="ctr"/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4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289" y="295736"/>
            <a:ext cx="7055380" cy="611302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503" y="1315946"/>
            <a:ext cx="8120417" cy="5221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 smtClean="0"/>
              <a:t>Can we control all of our electric home appliances by our </a:t>
            </a:r>
            <a:r>
              <a:rPr lang="en-US" sz="3200" b="1" dirty="0" smtClean="0"/>
              <a:t>Voice Command ?</a:t>
            </a: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Image result for animation of question ma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4017" y="2628435"/>
            <a:ext cx="3369977" cy="3594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447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051" y="548252"/>
            <a:ext cx="7055380" cy="1400530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375" y="723332"/>
            <a:ext cx="8420669" cy="6134668"/>
          </a:xfrm>
        </p:spPr>
        <p:txBody>
          <a:bodyPr>
            <a:normAutofit/>
          </a:bodyPr>
          <a:lstStyle/>
          <a:p>
            <a:pPr marL="2628943" lvl="6" indent="0" algn="ctr">
              <a:buNone/>
            </a:pPr>
            <a:r>
              <a:rPr lang="en-US" sz="3400" dirty="0" smtClean="0"/>
              <a:t>Yes!							</a:t>
            </a:r>
          </a:p>
          <a:p>
            <a:pPr marL="0" indent="0" algn="ctr">
              <a:buNone/>
            </a:pPr>
            <a:r>
              <a:rPr lang="en-US" sz="2600" dirty="0" smtClean="0"/>
              <a:t>We can control all of our home appliances with our voice from all over the world via internet. </a:t>
            </a:r>
          </a:p>
          <a:p>
            <a:pPr marL="0" indent="0" algn="ctr">
              <a:buNone/>
            </a:pPr>
            <a:r>
              <a:rPr lang="en-US" sz="2600" dirty="0" smtClean="0"/>
              <a:t>Lets know how it is possible.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711" y="2934487"/>
            <a:ext cx="6741995" cy="379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391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069" y="679579"/>
            <a:ext cx="7053542" cy="1050398"/>
          </a:xfrm>
        </p:spPr>
        <p:txBody>
          <a:bodyPr>
            <a:normAutofit/>
          </a:bodyPr>
          <a:lstStyle/>
          <a:p>
            <a:r>
              <a:rPr lang="en-US" sz="3600" dirty="0" smtClean="0"/>
              <a:t>CONTENTS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801" y="1729977"/>
            <a:ext cx="6711654" cy="4195481"/>
          </a:xfrm>
        </p:spPr>
        <p:txBody>
          <a:bodyPr>
            <a:normAutofit fontScale="92500" lnSpcReduction="20000"/>
          </a:bodyPr>
          <a:lstStyle/>
          <a:p>
            <a:r>
              <a:rPr lang="en-US" sz="2100" dirty="0" smtClean="0"/>
              <a:t>What is Voice Control Home Automation?</a:t>
            </a:r>
          </a:p>
          <a:p>
            <a:r>
              <a:rPr lang="en-US" sz="2100" dirty="0" smtClean="0"/>
              <a:t>Why we have done this project?</a:t>
            </a:r>
          </a:p>
          <a:p>
            <a:r>
              <a:rPr lang="en-US" sz="2100" dirty="0" smtClean="0"/>
              <a:t>Apparatus.</a:t>
            </a:r>
          </a:p>
          <a:p>
            <a:r>
              <a:rPr lang="en-US" sz="2400" dirty="0"/>
              <a:t>Design and construction</a:t>
            </a:r>
            <a:r>
              <a:rPr lang="en-US" sz="2100" dirty="0" smtClean="0"/>
              <a:t>.</a:t>
            </a:r>
            <a:endParaRPr lang="en-US" sz="2100" dirty="0" smtClean="0"/>
          </a:p>
          <a:p>
            <a:r>
              <a:rPr lang="en-US" sz="2100" dirty="0"/>
              <a:t>System Architecture</a:t>
            </a:r>
            <a:r>
              <a:rPr lang="en-US" sz="2100" dirty="0" smtClean="0"/>
              <a:t>.</a:t>
            </a:r>
          </a:p>
          <a:p>
            <a:r>
              <a:rPr lang="en-US" sz="2100" dirty="0" smtClean="0"/>
              <a:t>How it works?</a:t>
            </a:r>
          </a:p>
          <a:p>
            <a:r>
              <a:rPr lang="en-US" sz="2100" dirty="0" smtClean="0"/>
              <a:t>Result.</a:t>
            </a:r>
          </a:p>
          <a:p>
            <a:r>
              <a:rPr lang="en-US" sz="2100" dirty="0" smtClean="0"/>
              <a:t>Application.</a:t>
            </a:r>
          </a:p>
          <a:p>
            <a:r>
              <a:rPr lang="en-US" sz="2100" dirty="0" smtClean="0"/>
              <a:t>Advantages.</a:t>
            </a:r>
          </a:p>
          <a:p>
            <a:r>
              <a:rPr lang="en-US" sz="2100" dirty="0" smtClean="0"/>
              <a:t>Limitations.</a:t>
            </a:r>
          </a:p>
          <a:p>
            <a:r>
              <a:rPr lang="en-US" sz="2100" dirty="0" smtClean="0"/>
              <a:t>Conclusion &amp; Future Work .</a:t>
            </a:r>
            <a:endParaRPr lang="en-US" sz="2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2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860" y="1063423"/>
            <a:ext cx="7200897" cy="977900"/>
          </a:xfrm>
        </p:spPr>
        <p:txBody>
          <a:bodyPr/>
          <a:lstStyle/>
          <a:p>
            <a:r>
              <a:rPr lang="en-US" sz="3600" dirty="0"/>
              <a:t>What is Voice Control Home Automation?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044" y="2583119"/>
            <a:ext cx="7503793" cy="2846706"/>
          </a:xfrm>
        </p:spPr>
        <p:txBody>
          <a:bodyPr>
            <a:noAutofit/>
          </a:bodyPr>
          <a:lstStyle/>
          <a:p>
            <a:pPr algn="just"/>
            <a:r>
              <a:rPr lang="en-US" sz="1700" dirty="0" smtClean="0"/>
              <a:t>Voice control home automation  is a system where we can control our home appliances with  our voice command by Google Assistant. </a:t>
            </a:r>
          </a:p>
          <a:p>
            <a:pPr algn="just"/>
            <a:r>
              <a:rPr lang="en-US" sz="1700" dirty="0" smtClean="0"/>
              <a:t>Google Assistant—IFTTT—</a:t>
            </a:r>
            <a:r>
              <a:rPr lang="en-US" sz="1700" dirty="0" err="1" smtClean="0"/>
              <a:t>Adafruit</a:t>
            </a:r>
            <a:r>
              <a:rPr lang="en-US" sz="1700" dirty="0" smtClean="0"/>
              <a:t> </a:t>
            </a:r>
            <a:r>
              <a:rPr lang="en-US" sz="1700" dirty="0" smtClean="0"/>
              <a:t>IO--</a:t>
            </a:r>
            <a:r>
              <a:rPr lang="en-US" sz="1700" dirty="0" err="1" smtClean="0"/>
              <a:t>NodeMCU</a:t>
            </a:r>
            <a:r>
              <a:rPr lang="en-US" sz="1700" dirty="0" smtClean="0"/>
              <a:t> </a:t>
            </a:r>
            <a:r>
              <a:rPr lang="en-US" sz="1700" dirty="0"/>
              <a:t>(</a:t>
            </a:r>
            <a:r>
              <a:rPr lang="en-US" sz="1700" dirty="0" smtClean="0"/>
              <a:t>ESP8266)--4 channel Relay module.</a:t>
            </a:r>
          </a:p>
          <a:p>
            <a:pPr algn="just"/>
            <a:r>
              <a:rPr lang="en-US" sz="1700" dirty="0" smtClean="0"/>
              <a:t>Natural </a:t>
            </a:r>
            <a:r>
              <a:rPr lang="en-US" sz="1700" dirty="0"/>
              <a:t>language voice is used to give commands to the Google Assistant. All of the components are connected over the internet using Wi-Fi which puts this system under the </a:t>
            </a:r>
            <a:r>
              <a:rPr lang="en-US" sz="1700" dirty="0" err="1"/>
              <a:t>IoT</a:t>
            </a:r>
            <a:r>
              <a:rPr lang="en-US" sz="1700" dirty="0"/>
              <a:t>.</a:t>
            </a:r>
          </a:p>
          <a:p>
            <a:pPr marL="0" indent="0" algn="just">
              <a:buNone/>
            </a:pPr>
            <a:endParaRPr lang="en-US" sz="17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04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889" y="779713"/>
            <a:ext cx="7053542" cy="1050398"/>
          </a:xfrm>
        </p:spPr>
        <p:txBody>
          <a:bodyPr/>
          <a:lstStyle/>
          <a:p>
            <a:r>
              <a:rPr lang="en-US" sz="3600" dirty="0"/>
              <a:t>Why </a:t>
            </a:r>
            <a:r>
              <a:rPr lang="en-US" sz="3400" dirty="0"/>
              <a:t>we</a:t>
            </a:r>
            <a:r>
              <a:rPr lang="en-US" sz="3600" dirty="0"/>
              <a:t> have done this project?</a:t>
            </a:r>
            <a:br>
              <a:rPr lang="en-US" sz="3600" dirty="0"/>
            </a:br>
            <a:endParaRPr lang="en-US" sz="3375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341" y="2669293"/>
            <a:ext cx="7515304" cy="4363474"/>
          </a:xfrm>
        </p:spPr>
        <p:txBody>
          <a:bodyPr>
            <a:normAutofit/>
          </a:bodyPr>
          <a:lstStyle/>
          <a:p>
            <a:pPr algn="just"/>
            <a:r>
              <a:rPr lang="en-US" sz="1800" dirty="0" smtClean="0"/>
              <a:t>Easy, comfortable, effortless lifestyle at home.</a:t>
            </a:r>
          </a:p>
          <a:p>
            <a:r>
              <a:rPr lang="en-US" sz="1800" dirty="0" smtClean="0"/>
              <a:t>Many other  </a:t>
            </a:r>
            <a:r>
              <a:rPr lang="en-US" sz="1800" dirty="0"/>
              <a:t>home automation technologies </a:t>
            </a:r>
            <a:r>
              <a:rPr lang="en-US" sz="1800" dirty="0" smtClean="0"/>
              <a:t> such as Google Home, Amazon Echo, </a:t>
            </a:r>
            <a:r>
              <a:rPr lang="en-US" sz="1800" dirty="0"/>
              <a:t>Apple Home </a:t>
            </a:r>
            <a:r>
              <a:rPr lang="en-US" sz="1800" dirty="0" smtClean="0"/>
              <a:t>Kit, Philips Hue are highly costly then this project.</a:t>
            </a:r>
          </a:p>
          <a:p>
            <a:r>
              <a:rPr lang="en-US" sz="1800" dirty="0"/>
              <a:t>To control home appliances by voice commands with Google </a:t>
            </a:r>
            <a:r>
              <a:rPr lang="en-US" sz="1800" dirty="0" smtClean="0"/>
              <a:t>Assistant from anywhere.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endParaRPr lang="en-US" sz="16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456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14" y="538224"/>
            <a:ext cx="7053542" cy="676427"/>
          </a:xfrm>
        </p:spPr>
        <p:txBody>
          <a:bodyPr>
            <a:normAutofit fontScale="90000"/>
          </a:bodyPr>
          <a:lstStyle/>
          <a:p>
            <a:r>
              <a:rPr lang="en-US" sz="3800" dirty="0" smtClean="0"/>
              <a:t>Apparatus</a:t>
            </a:r>
            <a:r>
              <a:rPr lang="en-US" sz="3600" dirty="0"/>
              <a:t/>
            </a:r>
            <a:br>
              <a:rPr lang="en-US" sz="3600" dirty="0"/>
            </a:br>
            <a:endParaRPr lang="en-US" sz="345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576" y="1610437"/>
            <a:ext cx="7627261" cy="4062768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ESP8266 </a:t>
            </a:r>
            <a:r>
              <a:rPr lang="en-US" dirty="0" err="1"/>
              <a:t>NodeMCU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4 channel 5V Relay Module.</a:t>
            </a:r>
          </a:p>
          <a:p>
            <a:pPr lvl="0"/>
            <a:r>
              <a:rPr lang="en-US" dirty="0"/>
              <a:t>Breadboard.</a:t>
            </a:r>
          </a:p>
          <a:p>
            <a:pPr lvl="0"/>
            <a:r>
              <a:rPr lang="en-US" dirty="0"/>
              <a:t>Jumper Wires.</a:t>
            </a:r>
          </a:p>
          <a:p>
            <a:pPr lvl="0"/>
            <a:r>
              <a:rPr lang="en-US" dirty="0"/>
              <a:t>9V Battery.</a:t>
            </a:r>
          </a:p>
          <a:p>
            <a:pPr lvl="0"/>
            <a:r>
              <a:rPr lang="en-US" dirty="0"/>
              <a:t>LM 7805 IC.</a:t>
            </a:r>
          </a:p>
          <a:p>
            <a:pPr lvl="0"/>
            <a:r>
              <a:rPr lang="en-US" dirty="0"/>
              <a:t>Electrical Switchboard.</a:t>
            </a:r>
          </a:p>
          <a:p>
            <a:pPr lvl="0"/>
            <a:r>
              <a:rPr lang="en-US" dirty="0"/>
              <a:t>Electric Wires.</a:t>
            </a:r>
          </a:p>
          <a:p>
            <a:pPr lvl="0"/>
            <a:r>
              <a:rPr lang="en-US" dirty="0"/>
              <a:t>Light (bulb).</a:t>
            </a:r>
          </a:p>
          <a:p>
            <a:pPr lvl="0"/>
            <a:r>
              <a:rPr lang="en-US" dirty="0"/>
              <a:t>Plugs.</a:t>
            </a:r>
          </a:p>
          <a:p>
            <a:pPr lvl="0"/>
            <a:r>
              <a:rPr lang="en-US" dirty="0"/>
              <a:t>Sockets.</a:t>
            </a:r>
          </a:p>
          <a:p>
            <a:r>
              <a:rPr lang="en-US" dirty="0"/>
              <a:t>AC Supply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15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763" y="679579"/>
            <a:ext cx="7053542" cy="627797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Design and construction</a:t>
            </a:r>
            <a:endParaRPr lang="en-US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8</a:t>
            </a:fld>
            <a:endParaRPr lang="en-US"/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640" y="1528740"/>
            <a:ext cx="6455960" cy="419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97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83974" y="679579"/>
            <a:ext cx="7055380" cy="925706"/>
          </a:xfrm>
        </p:spPr>
        <p:txBody>
          <a:bodyPr/>
          <a:lstStyle/>
          <a:p>
            <a:r>
              <a:rPr lang="en-US" sz="4400" dirty="0"/>
              <a:t>System Architecture.</a:t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973" y="1605285"/>
            <a:ext cx="8141411" cy="501387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96" y="1837589"/>
            <a:ext cx="6513204" cy="420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890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2291" y="679579"/>
            <a:ext cx="3159242" cy="610705"/>
          </a:xfrm>
        </p:spPr>
        <p:txBody>
          <a:bodyPr/>
          <a:lstStyle/>
          <a:p>
            <a:r>
              <a:rPr lang="en-US" sz="3200" dirty="0"/>
              <a:t>How it works?</a:t>
            </a:r>
            <a:r>
              <a:rPr lang="en-US" sz="4400" dirty="0"/>
              <a:t/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293" y="1740090"/>
            <a:ext cx="7567544" cy="5117910"/>
          </a:xfrm>
        </p:spPr>
        <p:txBody>
          <a:bodyPr>
            <a:normAutofit/>
          </a:bodyPr>
          <a:lstStyle/>
          <a:p>
            <a:pPr algn="just"/>
            <a:r>
              <a:rPr lang="en-US" sz="1600" dirty="0" smtClean="0"/>
              <a:t>Connections : 4 output pin of ESP8266 </a:t>
            </a:r>
            <a:r>
              <a:rPr lang="en-US" sz="1600" dirty="0" err="1" smtClean="0"/>
              <a:t>NodeMCU</a:t>
            </a:r>
            <a:r>
              <a:rPr lang="en-US" sz="1600" dirty="0" smtClean="0"/>
              <a:t> with 4 channel of Relay module -- output of Relay module with physical AC Switchboard --give power supply to both. </a:t>
            </a:r>
            <a:endParaRPr lang="en-US" sz="1600" dirty="0"/>
          </a:p>
          <a:p>
            <a:pPr algn="just"/>
            <a:r>
              <a:rPr lang="en-US" sz="1600" dirty="0" err="1" smtClean="0"/>
              <a:t>Adafruit</a:t>
            </a:r>
            <a:r>
              <a:rPr lang="en-US" sz="1600" dirty="0" smtClean="0"/>
              <a:t> IO: </a:t>
            </a:r>
            <a:r>
              <a:rPr lang="en-US" sz="1600" dirty="0"/>
              <a:t>S</a:t>
            </a:r>
            <a:r>
              <a:rPr lang="en-US" sz="1600" dirty="0" smtClean="0"/>
              <a:t>ign up – create Dashboard or Virtual Switchboard --save the username and Secret AIO key of Dashboard.</a:t>
            </a:r>
          </a:p>
          <a:p>
            <a:pPr algn="just"/>
            <a:r>
              <a:rPr lang="en-US" sz="1600" dirty="0" smtClean="0"/>
              <a:t>IFTTT: </a:t>
            </a:r>
            <a:r>
              <a:rPr lang="en-US" sz="1600" dirty="0"/>
              <a:t>S</a:t>
            </a:r>
            <a:r>
              <a:rPr lang="en-US" sz="1600" dirty="0" smtClean="0"/>
              <a:t>ign up -- select Google Assistant platform -- create my own Applets with my commands -- connect with </a:t>
            </a:r>
            <a:r>
              <a:rPr lang="en-US" sz="1600" dirty="0" err="1" smtClean="0"/>
              <a:t>Adafruit</a:t>
            </a:r>
            <a:r>
              <a:rPr lang="en-US" sz="1600" dirty="0" smtClean="0"/>
              <a:t> IO Dashboard or virtual switchboard.</a:t>
            </a:r>
          </a:p>
          <a:p>
            <a:pPr algn="just"/>
            <a:r>
              <a:rPr lang="en-US" sz="1600" dirty="0" err="1" smtClean="0"/>
              <a:t>NodeMCU</a:t>
            </a:r>
            <a:r>
              <a:rPr lang="en-US" sz="1600" dirty="0" smtClean="0"/>
              <a:t>: Upload the code which contain local Wi-Fi username, password, </a:t>
            </a:r>
            <a:r>
              <a:rPr lang="en-US" sz="1600" dirty="0" err="1" smtClean="0"/>
              <a:t>Adfruit</a:t>
            </a:r>
            <a:r>
              <a:rPr lang="en-US" sz="1600" dirty="0" smtClean="0"/>
              <a:t> IO username and </a:t>
            </a:r>
            <a:r>
              <a:rPr lang="en-US" sz="1600" dirty="0"/>
              <a:t>Secret AIO key of </a:t>
            </a:r>
            <a:r>
              <a:rPr lang="en-US" sz="1600" dirty="0" smtClean="0"/>
              <a:t> Dashboard. </a:t>
            </a:r>
          </a:p>
          <a:p>
            <a:pPr algn="just"/>
            <a:r>
              <a:rPr lang="en-US" sz="1600" dirty="0" smtClean="0"/>
              <a:t>Google Assistant: Give the Voice command to the Google Assistant and Enjoy the system…</a:t>
            </a:r>
          </a:p>
          <a:p>
            <a:pPr algn="just"/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5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11</a:t>
            </a:fld>
            <a:endParaRPr lang="en-US"/>
          </a:p>
        </p:txBody>
      </p:sp>
      <p:pic>
        <p:nvPicPr>
          <p:cNvPr id="5" name="Content Placeholder 4" descr="https://scontent.xx.fbcdn.net/v/t1.15752-0/p280x280/53898180_299714017385941_4031747536615112704_n.jpg?_nc_cat=103&amp;_nc_ad=z-m&amp;_nc_cid=0&amp;_nc_zor=9&amp;_nc_ht=scontent.xx&amp;oh=74100961fc178f303eeda7845df68131&amp;oe=5D1CBFD6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462" y="1327814"/>
            <a:ext cx="5732061" cy="39442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7149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0774" y="452718"/>
            <a:ext cx="6712390" cy="610705"/>
          </a:xfrm>
        </p:spPr>
        <p:txBody>
          <a:bodyPr/>
          <a:lstStyle/>
          <a:p>
            <a:r>
              <a:rPr lang="en-US" sz="3400" dirty="0"/>
              <a:t>FLOWCHART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12</a:t>
            </a:fld>
            <a:endParaRPr lang="en-US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755" y="1310944"/>
            <a:ext cx="4732333" cy="511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485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 smtClean="0"/>
              <a:t>Result</a:t>
            </a:r>
            <a:r>
              <a:rPr lang="en-US" sz="3400" dirty="0"/>
              <a:t/>
            </a:r>
            <a:br>
              <a:rPr lang="en-US" sz="3400" dirty="0"/>
            </a:br>
            <a:r>
              <a:rPr lang="en-US" sz="3400" dirty="0" smtClean="0"/>
              <a:t/>
            </a:r>
            <a:br>
              <a:rPr lang="en-US" sz="3400" dirty="0" smtClean="0"/>
            </a:br>
            <a:r>
              <a:rPr lang="en-US" sz="1600" dirty="0" smtClean="0"/>
              <a:t>The </a:t>
            </a:r>
            <a:r>
              <a:rPr lang="en-US" sz="1600" dirty="0"/>
              <a:t>result was positive and the system responded well. The diagram below shows the complete prototype implementation of the proposed system.</a:t>
            </a:r>
            <a:br>
              <a:rPr lang="en-US" sz="1600" dirty="0"/>
            </a:br>
            <a:r>
              <a:rPr lang="en-US" sz="3400" dirty="0"/>
              <a:t/>
            </a:r>
            <a:br>
              <a:rPr lang="en-US" sz="3400" dirty="0"/>
            </a:br>
            <a:endParaRPr lang="en-US" sz="3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13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84710" y="2584125"/>
            <a:ext cx="8222562" cy="427963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1600" b="1" dirty="0" smtClean="0"/>
              <a:t>                                    Fig -7: Light Turned ON and then OFF.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b="1" dirty="0" smtClean="0"/>
              <a:t> </a:t>
            </a:r>
            <a:endParaRPr lang="en-US" dirty="0"/>
          </a:p>
        </p:txBody>
      </p:sp>
      <p:pic>
        <p:nvPicPr>
          <p:cNvPr id="9" name="Picture 8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907" y="2584125"/>
            <a:ext cx="2815410" cy="3434538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2584125"/>
            <a:ext cx="2739490" cy="343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86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27700" y="545979"/>
            <a:ext cx="4537666" cy="1034888"/>
          </a:xfrm>
        </p:spPr>
        <p:txBody>
          <a:bodyPr/>
          <a:lstStyle/>
          <a:p>
            <a:r>
              <a:rPr lang="en-US" sz="4400" dirty="0" smtClean="0"/>
              <a:t>Application</a:t>
            </a:r>
            <a:r>
              <a:rPr lang="en-US" sz="4400" dirty="0"/>
              <a:t/>
            </a:r>
            <a:br>
              <a:rPr lang="en-US" sz="4400" dirty="0"/>
            </a:b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27700" y="2052925"/>
            <a:ext cx="7975106" cy="4805075"/>
          </a:xfrm>
        </p:spPr>
        <p:txBody>
          <a:bodyPr/>
          <a:lstStyle/>
          <a:p>
            <a:pPr lvl="0"/>
            <a:r>
              <a:rPr lang="en-US" dirty="0"/>
              <a:t>TV, Home Theater, Speaker.</a:t>
            </a:r>
          </a:p>
          <a:p>
            <a:pPr lvl="0"/>
            <a:r>
              <a:rPr lang="en-US" dirty="0"/>
              <a:t>Refrigerator, Washer, Dryer, Geyser water heater.</a:t>
            </a:r>
          </a:p>
          <a:p>
            <a:pPr lvl="0"/>
            <a:r>
              <a:rPr lang="en-US" dirty="0"/>
              <a:t>Light, Fan, Vacuum Cleaner, Air conditioner, Thermostat.</a:t>
            </a:r>
          </a:p>
          <a:p>
            <a:pPr lvl="0"/>
            <a:r>
              <a:rPr lang="en-US" dirty="0"/>
              <a:t>Electric Door Lock, CC camera etc.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0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700" y="834855"/>
            <a:ext cx="7055380" cy="1400530"/>
          </a:xfrm>
        </p:spPr>
        <p:txBody>
          <a:bodyPr/>
          <a:lstStyle/>
          <a:p>
            <a:r>
              <a:rPr lang="en-US" sz="3400" dirty="0" smtClean="0"/>
              <a:t>Advantages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097" y="2235385"/>
            <a:ext cx="6711654" cy="4195481"/>
          </a:xfrm>
        </p:spPr>
        <p:txBody>
          <a:bodyPr/>
          <a:lstStyle/>
          <a:p>
            <a:r>
              <a:rPr lang="en-US" dirty="0" smtClean="0"/>
              <a:t>Automatic.</a:t>
            </a:r>
          </a:p>
          <a:p>
            <a:r>
              <a:rPr lang="en-US" dirty="0" smtClean="0"/>
              <a:t>Control from all over the world.</a:t>
            </a:r>
          </a:p>
          <a:p>
            <a:r>
              <a:rPr lang="en-US" dirty="0" smtClean="0"/>
              <a:t>High speed controlling.</a:t>
            </a:r>
          </a:p>
          <a:p>
            <a:r>
              <a:rPr lang="en-US" dirty="0" smtClean="0"/>
              <a:t>Cost effective.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05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672" y="679579"/>
            <a:ext cx="6816759" cy="707342"/>
          </a:xfrm>
        </p:spPr>
        <p:txBody>
          <a:bodyPr/>
          <a:lstStyle/>
          <a:p>
            <a:r>
              <a:rPr lang="en-US" sz="3400" dirty="0"/>
              <a:t>LIMITATIONS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984" y="2016424"/>
            <a:ext cx="6711654" cy="4195481"/>
          </a:xfrm>
        </p:spPr>
        <p:txBody>
          <a:bodyPr/>
          <a:lstStyle/>
          <a:p>
            <a:pPr algn="just"/>
            <a:r>
              <a:rPr lang="en-US" dirty="0"/>
              <a:t>I</a:t>
            </a:r>
            <a:r>
              <a:rPr lang="en-US" dirty="0" smtClean="0"/>
              <a:t>nternet </a:t>
            </a:r>
            <a:r>
              <a:rPr lang="en-US" dirty="0"/>
              <a:t>connection should be proper for speedy and continues services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All the accounts should be signed up with the same Gmail account.</a:t>
            </a:r>
          </a:p>
          <a:p>
            <a:pPr algn="just"/>
            <a:r>
              <a:rPr lang="en-US" dirty="0"/>
              <a:t>P</a:t>
            </a:r>
            <a:r>
              <a:rPr lang="en-US" dirty="0" smtClean="0"/>
              <a:t>ower </a:t>
            </a:r>
            <a:r>
              <a:rPr lang="en-US" dirty="0"/>
              <a:t>supply for both </a:t>
            </a:r>
            <a:r>
              <a:rPr lang="en-US" dirty="0" err="1"/>
              <a:t>NodeMCU</a:t>
            </a:r>
            <a:r>
              <a:rPr lang="en-US" dirty="0"/>
              <a:t> and Relay module should be same 5V </a:t>
            </a:r>
            <a:r>
              <a:rPr lang="en-US" dirty="0" smtClean="0"/>
              <a:t>source.</a:t>
            </a:r>
          </a:p>
          <a:p>
            <a:pPr algn="just"/>
            <a:r>
              <a:rPr lang="en-US" dirty="0"/>
              <a:t>V</a:t>
            </a:r>
            <a:r>
              <a:rPr lang="en-US" dirty="0" smtClean="0"/>
              <a:t>oice command should be given </a:t>
            </a:r>
            <a:r>
              <a:rPr lang="en-US" dirty="0"/>
              <a:t>in noise free </a:t>
            </a:r>
            <a:r>
              <a:rPr lang="en-US" dirty="0" smtClean="0"/>
              <a:t>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14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665" y="679579"/>
            <a:ext cx="5588544" cy="610705"/>
          </a:xfrm>
        </p:spPr>
        <p:txBody>
          <a:bodyPr/>
          <a:lstStyle/>
          <a:p>
            <a:r>
              <a:rPr lang="en-US" sz="3400" dirty="0"/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119" y="1978926"/>
            <a:ext cx="7965125" cy="4776715"/>
          </a:xfrm>
        </p:spPr>
        <p:txBody>
          <a:bodyPr>
            <a:normAutofit/>
          </a:bodyPr>
          <a:lstStyle/>
          <a:p>
            <a:pPr algn="just"/>
            <a:r>
              <a:rPr lang="en-US" sz="1800" dirty="0"/>
              <a:t>T</a:t>
            </a:r>
            <a:r>
              <a:rPr lang="en-US" sz="1800" dirty="0" smtClean="0"/>
              <a:t>o </a:t>
            </a:r>
            <a:r>
              <a:rPr lang="en-US" sz="1800" dirty="0"/>
              <a:t>propose a cost effective voice controlled (Google Assistant) home </a:t>
            </a:r>
            <a:r>
              <a:rPr lang="en-US" sz="1800" dirty="0" smtClean="0"/>
              <a:t>automation.</a:t>
            </a:r>
          </a:p>
          <a:p>
            <a:pPr algn="just"/>
            <a:r>
              <a:rPr lang="en-US" sz="1800" dirty="0"/>
              <a:t>H</a:t>
            </a:r>
            <a:r>
              <a:rPr lang="en-US" sz="1800" dirty="0" smtClean="0"/>
              <a:t>ighly </a:t>
            </a:r>
            <a:r>
              <a:rPr lang="en-US" sz="1800" dirty="0"/>
              <a:t>reliable and efficient for the aged people and differently abled person on a wheel chair who cannot reach the switch </a:t>
            </a:r>
            <a:r>
              <a:rPr lang="en-US" sz="1800" dirty="0" smtClean="0"/>
              <a:t>and </a:t>
            </a:r>
            <a:r>
              <a:rPr lang="en-US" sz="1800" dirty="0"/>
              <a:t>are dependent on others</a:t>
            </a:r>
            <a:r>
              <a:rPr lang="en-US" sz="1800" dirty="0" smtClean="0"/>
              <a:t>. </a:t>
            </a:r>
          </a:p>
          <a:p>
            <a:pPr algn="just"/>
            <a:r>
              <a:rPr lang="en-US" sz="1800" dirty="0"/>
              <a:t>F</a:t>
            </a:r>
            <a:r>
              <a:rPr lang="en-US" sz="1800" dirty="0" smtClean="0"/>
              <a:t>uture </a:t>
            </a:r>
            <a:r>
              <a:rPr lang="en-US" sz="1800" dirty="0"/>
              <a:t>scope </a:t>
            </a:r>
            <a:r>
              <a:rPr lang="en-US" sz="1800" dirty="0" smtClean="0"/>
              <a:t>depends on many </a:t>
            </a:r>
            <a:r>
              <a:rPr lang="en-US" sz="1800" dirty="0"/>
              <a:t>factors to </a:t>
            </a:r>
            <a:r>
              <a:rPr lang="en-US" sz="1800" dirty="0" smtClean="0"/>
              <a:t>improve like speed, security, number of device, number of control parameter etc. </a:t>
            </a:r>
          </a:p>
          <a:p>
            <a:pPr algn="just"/>
            <a:r>
              <a:rPr lang="en-US" sz="1800" dirty="0" smtClean="0"/>
              <a:t>Well</a:t>
            </a:r>
            <a:r>
              <a:rPr lang="en-US" sz="1800" dirty="0"/>
              <a:t>, no system is ever perfect. It always has a scope for improvement. One just needs to put on a thinking cap and try and make the system more better.</a:t>
            </a:r>
          </a:p>
          <a:p>
            <a:pPr marL="0" indent="0" algn="just"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6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/>
              <a:t>Lets make our Home Smart!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2B11-B7FB-46D3-99D3-2D3C1FA0178C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186" y="3065344"/>
            <a:ext cx="4182492" cy="292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24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1010</TotalTime>
  <Words>637</Words>
  <Application>Microsoft Office PowerPoint</Application>
  <PresentationFormat>On-screen Show (4:3)</PresentationFormat>
  <Paragraphs>114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Century Gothic</vt:lpstr>
      <vt:lpstr>Wingdings 3</vt:lpstr>
      <vt:lpstr>Ion</vt:lpstr>
      <vt:lpstr>Voice Control Home Automation </vt:lpstr>
      <vt:lpstr> </vt:lpstr>
      <vt:lpstr> </vt:lpstr>
      <vt:lpstr>CONTENTS</vt:lpstr>
      <vt:lpstr>What is Voice Control Home Automation?</vt:lpstr>
      <vt:lpstr>Why we have done this project? </vt:lpstr>
      <vt:lpstr>Apparatus </vt:lpstr>
      <vt:lpstr>Design and construction</vt:lpstr>
      <vt:lpstr>System Architecture. </vt:lpstr>
      <vt:lpstr>How it works? </vt:lpstr>
      <vt:lpstr> </vt:lpstr>
      <vt:lpstr>FLOWCHART </vt:lpstr>
      <vt:lpstr>Result  The result was positive and the system responded well. The diagram below shows the complete prototype implementation of the proposed system.  </vt:lpstr>
      <vt:lpstr>Application </vt:lpstr>
      <vt:lpstr>Advantages</vt:lpstr>
      <vt:lpstr>LIMITATIONS </vt:lpstr>
      <vt:lpstr>Conclusion &amp; Future Work</vt:lpstr>
      <vt:lpstr>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67</cp:revision>
  <dcterms:created xsi:type="dcterms:W3CDTF">2019-01-17T14:20:52Z</dcterms:created>
  <dcterms:modified xsi:type="dcterms:W3CDTF">2019-03-11T19:14:53Z</dcterms:modified>
</cp:coreProperties>
</file>